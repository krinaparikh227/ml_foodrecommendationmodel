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League Spartan" charset="1" panose="00000800000000000000"/>
      <p:regular r:id="rId28"/>
    </p:embeddedFont>
    <p:embeddedFont>
      <p:font typeface="Roboto Bold" charset="1" panose="02000000000000000000"/>
      <p:regular r:id="rId29"/>
    </p:embeddedFont>
    <p:embeddedFont>
      <p:font typeface="Poppins" charset="1" panose="00000500000000000000"/>
      <p:regular r:id="rId30"/>
    </p:embeddedFont>
    <p:embeddedFont>
      <p:font typeface="Canva Sans Bold" charset="1" panose="020B0803030501040103"/>
      <p:regular r:id="rId31"/>
    </p:embeddedFont>
    <p:embeddedFont>
      <p:font typeface="Poppins Bold" charset="1" panose="00000800000000000000"/>
      <p:regular r:id="rId32"/>
    </p:embeddedFont>
    <p:embeddedFont>
      <p:font typeface="Canva Sans" charset="1" panose="020B0503030501040103"/>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jpeg" Type="http://schemas.openxmlformats.org/officeDocument/2006/relationships/image"/><Relationship Id="rId4" Target="../media/image1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0.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1880278" y="-378097"/>
            <a:ext cx="2302648" cy="7358945"/>
            <a:chOff x="0" y="0"/>
            <a:chExt cx="606459" cy="1938158"/>
          </a:xfrm>
        </p:grpSpPr>
        <p:sp>
          <p:nvSpPr>
            <p:cNvPr name="Freeform 4" id="4"/>
            <p:cNvSpPr/>
            <p:nvPr/>
          </p:nvSpPr>
          <p:spPr>
            <a:xfrm flipH="false" flipV="false" rot="0">
              <a:off x="0" y="0"/>
              <a:ext cx="606459" cy="1938158"/>
            </a:xfrm>
            <a:custGeom>
              <a:avLst/>
              <a:gdLst/>
              <a:ahLst/>
              <a:cxnLst/>
              <a:rect r="r" b="b" t="t" l="l"/>
              <a:pathLst>
                <a:path h="1938158" w="606459">
                  <a:moveTo>
                    <a:pt x="171471" y="0"/>
                  </a:moveTo>
                  <a:lnTo>
                    <a:pt x="434987" y="0"/>
                  </a:lnTo>
                  <a:cubicBezTo>
                    <a:pt x="480464" y="0"/>
                    <a:pt x="524079" y="18066"/>
                    <a:pt x="556236" y="50223"/>
                  </a:cubicBezTo>
                  <a:cubicBezTo>
                    <a:pt x="588393" y="82380"/>
                    <a:pt x="606459" y="125994"/>
                    <a:pt x="606459" y="171471"/>
                  </a:cubicBezTo>
                  <a:lnTo>
                    <a:pt x="606459" y="1766687"/>
                  </a:lnTo>
                  <a:cubicBezTo>
                    <a:pt x="606459" y="1812164"/>
                    <a:pt x="588393" y="1855779"/>
                    <a:pt x="556236" y="1887936"/>
                  </a:cubicBezTo>
                  <a:cubicBezTo>
                    <a:pt x="524079" y="1920093"/>
                    <a:pt x="480464" y="1938158"/>
                    <a:pt x="434987" y="1938158"/>
                  </a:cubicBezTo>
                  <a:lnTo>
                    <a:pt x="171471" y="1938158"/>
                  </a:lnTo>
                  <a:cubicBezTo>
                    <a:pt x="76770" y="1938158"/>
                    <a:pt x="0" y="1861388"/>
                    <a:pt x="0" y="1766687"/>
                  </a:cubicBezTo>
                  <a:lnTo>
                    <a:pt x="0" y="171471"/>
                  </a:lnTo>
                  <a:cubicBezTo>
                    <a:pt x="0" y="125994"/>
                    <a:pt x="18066" y="82380"/>
                    <a:pt x="50223" y="50223"/>
                  </a:cubicBezTo>
                  <a:cubicBezTo>
                    <a:pt x="82380" y="18066"/>
                    <a:pt x="125994" y="0"/>
                    <a:pt x="171471" y="0"/>
                  </a:cubicBezTo>
                  <a:close/>
                </a:path>
              </a:pathLst>
            </a:custGeom>
            <a:solidFill>
              <a:srgbClr val="574874"/>
            </a:solidFill>
          </p:spPr>
        </p:sp>
        <p:sp>
          <p:nvSpPr>
            <p:cNvPr name="TextBox 5" id="5"/>
            <p:cNvSpPr txBox="true"/>
            <p:nvPr/>
          </p:nvSpPr>
          <p:spPr>
            <a:xfrm>
              <a:off x="0" y="-47625"/>
              <a:ext cx="606459" cy="1985783"/>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rot="0">
            <a:off x="4547281" y="5192722"/>
            <a:ext cx="7877207" cy="0"/>
          </a:xfrm>
          <a:prstGeom prst="line">
            <a:avLst/>
          </a:prstGeom>
          <a:ln cap="flat" w="76200">
            <a:solidFill>
              <a:srgbClr val="574874"/>
            </a:solidFill>
            <a:prstDash val="solid"/>
            <a:headEnd type="none" len="sm" w="sm"/>
            <a:tailEnd type="none" len="sm" w="sm"/>
          </a:ln>
        </p:spPr>
      </p:sp>
      <p:grpSp>
        <p:nvGrpSpPr>
          <p:cNvPr name="Group 7" id="7"/>
          <p:cNvGrpSpPr/>
          <p:nvPr/>
        </p:nvGrpSpPr>
        <p:grpSpPr>
          <a:xfrm rot="0">
            <a:off x="14379513" y="8233036"/>
            <a:ext cx="4823538" cy="482353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74874"/>
            </a:solidFill>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547281" y="3971622"/>
            <a:ext cx="9193439" cy="1256829"/>
          </a:xfrm>
          <a:prstGeom prst="rect">
            <a:avLst/>
          </a:prstGeom>
        </p:spPr>
        <p:txBody>
          <a:bodyPr anchor="t" rtlCol="false" tIns="0" lIns="0" bIns="0" rIns="0">
            <a:spAutoFit/>
          </a:bodyPr>
          <a:lstStyle/>
          <a:p>
            <a:pPr algn="l">
              <a:lnSpc>
                <a:spcPts val="10308"/>
              </a:lnSpc>
            </a:pPr>
            <a:r>
              <a:rPr lang="en-US" sz="7363">
                <a:solidFill>
                  <a:srgbClr val="000000"/>
                </a:solidFill>
                <a:latin typeface="League Spartan"/>
                <a:ea typeface="League Spartan"/>
                <a:cs typeface="League Spartan"/>
                <a:sym typeface="League Spartan"/>
              </a:rPr>
              <a:t>PRESENTATION</a:t>
            </a:r>
          </a:p>
        </p:txBody>
      </p:sp>
      <p:sp>
        <p:nvSpPr>
          <p:cNvPr name="TextBox 11" id="11"/>
          <p:cNvSpPr txBox="true"/>
          <p:nvPr/>
        </p:nvSpPr>
        <p:spPr>
          <a:xfrm rot="0">
            <a:off x="4547281" y="3020402"/>
            <a:ext cx="3843113" cy="929040"/>
          </a:xfrm>
          <a:prstGeom prst="rect">
            <a:avLst/>
          </a:prstGeom>
        </p:spPr>
        <p:txBody>
          <a:bodyPr anchor="t" rtlCol="false" tIns="0" lIns="0" bIns="0" rIns="0">
            <a:spAutoFit/>
          </a:bodyPr>
          <a:lstStyle/>
          <a:p>
            <a:pPr algn="l">
              <a:lnSpc>
                <a:spcPts val="7593"/>
              </a:lnSpc>
            </a:pPr>
            <a:r>
              <a:rPr lang="en-US" b="true" sz="5423">
                <a:solidFill>
                  <a:srgbClr val="000000"/>
                </a:solidFill>
                <a:latin typeface="Roboto Bold"/>
                <a:ea typeface="Roboto Bold"/>
                <a:cs typeface="Roboto Bold"/>
                <a:sym typeface="Roboto Bold"/>
              </a:rPr>
              <a:t>WEEK-01</a:t>
            </a:r>
          </a:p>
        </p:txBody>
      </p:sp>
      <p:sp>
        <p:nvSpPr>
          <p:cNvPr name="TextBox 12" id="12"/>
          <p:cNvSpPr txBox="true"/>
          <p:nvPr/>
        </p:nvSpPr>
        <p:spPr>
          <a:xfrm rot="0">
            <a:off x="4547281" y="5471810"/>
            <a:ext cx="13740719" cy="3049919"/>
          </a:xfrm>
          <a:prstGeom prst="rect">
            <a:avLst/>
          </a:prstGeom>
        </p:spPr>
        <p:txBody>
          <a:bodyPr anchor="t" rtlCol="false" tIns="0" lIns="0" bIns="0" rIns="0">
            <a:spAutoFit/>
          </a:bodyPr>
          <a:lstStyle/>
          <a:p>
            <a:pPr algn="l">
              <a:lnSpc>
                <a:spcPts val="4164"/>
              </a:lnSpc>
            </a:pPr>
            <a:r>
              <a:rPr lang="en-US" sz="2974">
                <a:solidFill>
                  <a:srgbClr val="000000"/>
                </a:solidFill>
                <a:latin typeface="Poppins"/>
                <a:ea typeface="Poppins"/>
                <a:cs typeface="Poppins"/>
                <a:sym typeface="Poppins"/>
              </a:rPr>
              <a:t> Summer Internship presentation </a:t>
            </a:r>
          </a:p>
          <a:p>
            <a:pPr algn="l" marL="620592" indent="-310296" lvl="1">
              <a:lnSpc>
                <a:spcPts val="4024"/>
              </a:lnSpc>
              <a:buFont typeface="Arial"/>
              <a:buChar char="•"/>
            </a:pPr>
            <a:r>
              <a:rPr lang="en-US" sz="2874">
                <a:solidFill>
                  <a:srgbClr val="000000"/>
                </a:solidFill>
                <a:latin typeface="Poppins"/>
                <a:ea typeface="Poppins"/>
                <a:cs typeface="Poppins"/>
                <a:sym typeface="Poppins"/>
              </a:rPr>
              <a:t> Topic :Health-Aware and Explainable Food Recommendation Systems Using Retrieval-Augmented LLMs</a:t>
            </a:r>
          </a:p>
          <a:p>
            <a:pPr algn="l" marL="620592" indent="-310296" lvl="1">
              <a:lnSpc>
                <a:spcPts val="4024"/>
              </a:lnSpc>
              <a:buFont typeface="Arial"/>
              <a:buChar char="•"/>
            </a:pPr>
            <a:r>
              <a:rPr lang="en-US" sz="2874">
                <a:solidFill>
                  <a:srgbClr val="000000"/>
                </a:solidFill>
                <a:latin typeface="Poppins"/>
                <a:ea typeface="Poppins"/>
                <a:cs typeface="Poppins"/>
                <a:sym typeface="Poppins"/>
              </a:rPr>
              <a:t> Foundational Week 1 Deliverables for the GroundedNutriRec system architecture</a:t>
            </a:r>
          </a:p>
          <a:p>
            <a:pPr algn="l">
              <a:lnSpc>
                <a:spcPts val="4024"/>
              </a:lnSpc>
            </a:pPr>
          </a:p>
        </p:txBody>
      </p:sp>
      <p:grpSp>
        <p:nvGrpSpPr>
          <p:cNvPr name="Group 13" id="13"/>
          <p:cNvGrpSpPr/>
          <p:nvPr/>
        </p:nvGrpSpPr>
        <p:grpSpPr>
          <a:xfrm rot="0">
            <a:off x="16791282" y="6846531"/>
            <a:ext cx="4823538" cy="482353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D59">
                <a:alpha val="72941"/>
              </a:srgbClr>
            </a:solidFill>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AutoShape 3" id="3"/>
          <p:cNvSpPr/>
          <p:nvPr/>
        </p:nvSpPr>
        <p:spPr>
          <a:xfrm>
            <a:off x="1107009" y="3189010"/>
            <a:ext cx="5049618" cy="0"/>
          </a:xfrm>
          <a:prstGeom prst="line">
            <a:avLst/>
          </a:prstGeom>
          <a:ln cap="flat" w="76200">
            <a:solidFill>
              <a:srgbClr val="574874"/>
            </a:solidFill>
            <a:prstDash val="solid"/>
            <a:headEnd type="none" len="sm" w="sm"/>
            <a:tailEnd type="none" len="sm" w="sm"/>
          </a:ln>
        </p:spPr>
      </p:sp>
      <p:grpSp>
        <p:nvGrpSpPr>
          <p:cNvPr name="Group 4" id="4"/>
          <p:cNvGrpSpPr/>
          <p:nvPr/>
        </p:nvGrpSpPr>
        <p:grpSpPr>
          <a:xfrm rot="0">
            <a:off x="1107009" y="1028700"/>
            <a:ext cx="146488" cy="1675250"/>
            <a:chOff x="0" y="0"/>
            <a:chExt cx="38581" cy="441218"/>
          </a:xfrm>
        </p:grpSpPr>
        <p:sp>
          <p:nvSpPr>
            <p:cNvPr name="Freeform 5" id="5"/>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6" id="6"/>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grpSp>
        <p:nvGrpSpPr>
          <p:cNvPr name="Group 7" id="7"/>
          <p:cNvGrpSpPr>
            <a:grpSpLocks noChangeAspect="true"/>
          </p:cNvGrpSpPr>
          <p:nvPr/>
        </p:nvGrpSpPr>
        <p:grpSpPr>
          <a:xfrm rot="0">
            <a:off x="11064335" y="-612781"/>
            <a:ext cx="7345388" cy="9871081"/>
            <a:chOff x="0" y="0"/>
            <a:chExt cx="3663950" cy="4923790"/>
          </a:xfrm>
        </p:grpSpPr>
        <p:sp>
          <p:nvSpPr>
            <p:cNvPr name="Freeform 8" id="8"/>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184292" t="0" r="-55932" b="0"/>
              </a:stretch>
            </a:blipFill>
          </p:spPr>
        </p:sp>
        <p:sp>
          <p:nvSpPr>
            <p:cNvPr name="Freeform 9" id="9"/>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574874"/>
            </a:solidFill>
          </p:spPr>
        </p:sp>
      </p:grpSp>
      <p:sp>
        <p:nvSpPr>
          <p:cNvPr name="TextBox 10" id="10"/>
          <p:cNvSpPr txBox="true"/>
          <p:nvPr/>
        </p:nvSpPr>
        <p:spPr>
          <a:xfrm rot="0">
            <a:off x="1481599" y="1602775"/>
            <a:ext cx="5914265"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PROJECT</a:t>
            </a:r>
          </a:p>
        </p:txBody>
      </p:sp>
      <p:sp>
        <p:nvSpPr>
          <p:cNvPr name="TextBox 11" id="11"/>
          <p:cNvSpPr txBox="true"/>
          <p:nvPr/>
        </p:nvSpPr>
        <p:spPr>
          <a:xfrm rot="0">
            <a:off x="1481599" y="942975"/>
            <a:ext cx="4596719" cy="697900"/>
          </a:xfrm>
          <a:prstGeom prst="rect">
            <a:avLst/>
          </a:prstGeom>
        </p:spPr>
        <p:txBody>
          <a:bodyPr anchor="t" rtlCol="false" tIns="0" lIns="0" bIns="0" rIns="0">
            <a:spAutoFit/>
          </a:bodyPr>
          <a:lstStyle/>
          <a:p>
            <a:pPr algn="l">
              <a:lnSpc>
                <a:spcPts val="5633"/>
              </a:lnSpc>
            </a:pPr>
            <a:r>
              <a:rPr lang="en-US" b="true" sz="4023">
                <a:solidFill>
                  <a:srgbClr val="000000"/>
                </a:solidFill>
                <a:latin typeface="Roboto Bold"/>
                <a:ea typeface="Roboto Bold"/>
                <a:cs typeface="Roboto Bold"/>
                <a:sym typeface="Roboto Bold"/>
              </a:rPr>
              <a:t>ABOUT OUR</a:t>
            </a:r>
          </a:p>
        </p:txBody>
      </p:sp>
      <p:sp>
        <p:nvSpPr>
          <p:cNvPr name="TextBox 12" id="12"/>
          <p:cNvSpPr txBox="true"/>
          <p:nvPr/>
        </p:nvSpPr>
        <p:spPr>
          <a:xfrm rot="0">
            <a:off x="1028700" y="4175543"/>
            <a:ext cx="8962916" cy="5657934"/>
          </a:xfrm>
          <a:prstGeom prst="rect">
            <a:avLst/>
          </a:prstGeom>
        </p:spPr>
        <p:txBody>
          <a:bodyPr anchor="t" rtlCol="false" tIns="0" lIns="0" bIns="0" rIns="0">
            <a:spAutoFit/>
          </a:bodyPr>
          <a:lstStyle/>
          <a:p>
            <a:pPr algn="l" marL="502547" indent="-251273" lvl="1">
              <a:lnSpc>
                <a:spcPts val="3258"/>
              </a:lnSpc>
              <a:buFont typeface="Arial"/>
              <a:buChar char="•"/>
            </a:pPr>
            <a:r>
              <a:rPr lang="en-US" sz="2327">
                <a:solidFill>
                  <a:srgbClr val="000000"/>
                </a:solidFill>
                <a:latin typeface="Poppins"/>
                <a:ea typeface="Poppins"/>
                <a:cs typeface="Poppins"/>
                <a:sym typeface="Poppins"/>
              </a:rPr>
              <a:t>This project focuses on building a smart recommendation system that suggests recipes based on user preferences and historical data. Our team — Ishan, Kush, and Krina — worked collaboratively to analyze a real dataset Food.com containing recipe details and user reviews. </a:t>
            </a:r>
          </a:p>
          <a:p>
            <a:pPr algn="l" marL="502547" indent="-251273" lvl="1">
              <a:lnSpc>
                <a:spcPts val="3258"/>
              </a:lnSpc>
              <a:buFont typeface="Arial"/>
              <a:buChar char="•"/>
            </a:pPr>
            <a:r>
              <a:rPr lang="en-US" sz="2327">
                <a:solidFill>
                  <a:srgbClr val="000000"/>
                </a:solidFill>
                <a:latin typeface="Poppins"/>
                <a:ea typeface="Poppins"/>
                <a:cs typeface="Poppins"/>
                <a:sym typeface="Poppins"/>
              </a:rPr>
              <a:t>The objective is to extract meaningful insights and design a system that can provide personalized recipe suggestions. This project combines data analysis, preprocessing, and machine learning concepts to solve a practical problem. I</a:t>
            </a:r>
          </a:p>
          <a:p>
            <a:pPr algn="l" marL="502547" indent="-251273" lvl="1">
              <a:lnSpc>
                <a:spcPts val="3258"/>
              </a:lnSpc>
              <a:buFont typeface="Arial"/>
              <a:buChar char="•"/>
            </a:pPr>
            <a:r>
              <a:rPr lang="en-US" sz="2327">
                <a:solidFill>
                  <a:srgbClr val="000000"/>
                </a:solidFill>
                <a:latin typeface="Poppins"/>
                <a:ea typeface="Poppins"/>
                <a:cs typeface="Poppins"/>
                <a:sym typeface="Poppins"/>
              </a:rPr>
              <a:t>t also helps us understand how real-world recommendation systems (like Netflix or Amazon) work.</a:t>
            </a:r>
          </a:p>
          <a:p>
            <a:pPr algn="l">
              <a:lnSpc>
                <a:spcPts val="3258"/>
              </a:lnSpc>
            </a:pPr>
          </a:p>
        </p:txBody>
      </p:sp>
      <p:sp>
        <p:nvSpPr>
          <p:cNvPr name="TextBox 13" id="13"/>
          <p:cNvSpPr txBox="true"/>
          <p:nvPr/>
        </p:nvSpPr>
        <p:spPr>
          <a:xfrm rot="0">
            <a:off x="790318" y="3236635"/>
            <a:ext cx="8526708" cy="662939"/>
          </a:xfrm>
          <a:prstGeom prst="rect">
            <a:avLst/>
          </a:prstGeom>
        </p:spPr>
        <p:txBody>
          <a:bodyPr anchor="t" rtlCol="false" tIns="0" lIns="0" bIns="0" rIns="0">
            <a:spAutoFit/>
          </a:bodyPr>
          <a:lstStyle/>
          <a:p>
            <a:pPr algn="l" marL="842016" indent="-421008" lvl="1">
              <a:lnSpc>
                <a:spcPts val="5460"/>
              </a:lnSpc>
              <a:buFont typeface="Arial"/>
              <a:buChar char="•"/>
            </a:pPr>
            <a:r>
              <a:rPr lang="en-US" b="true" sz="3900">
                <a:solidFill>
                  <a:srgbClr val="000000"/>
                </a:solidFill>
                <a:latin typeface="Canva Sans Bold"/>
                <a:ea typeface="Canva Sans Bold"/>
                <a:cs typeface="Canva Sans Bold"/>
                <a:sym typeface="Canva Sans Bold"/>
              </a:rPr>
              <a:t>Food Recommendation System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AutoShape 3" id="3"/>
          <p:cNvSpPr/>
          <p:nvPr/>
        </p:nvSpPr>
        <p:spPr>
          <a:xfrm rot="0">
            <a:off x="1107009" y="3150910"/>
            <a:ext cx="5049618" cy="0"/>
          </a:xfrm>
          <a:prstGeom prst="line">
            <a:avLst/>
          </a:prstGeom>
          <a:ln cap="flat" w="76200">
            <a:solidFill>
              <a:srgbClr val="574874"/>
            </a:solidFill>
            <a:prstDash val="solid"/>
            <a:headEnd type="none" len="sm" w="sm"/>
            <a:tailEnd type="none" len="sm" w="sm"/>
          </a:ln>
        </p:spPr>
      </p:sp>
      <p:grpSp>
        <p:nvGrpSpPr>
          <p:cNvPr name="Group 4" id="4"/>
          <p:cNvGrpSpPr/>
          <p:nvPr/>
        </p:nvGrpSpPr>
        <p:grpSpPr>
          <a:xfrm rot="0">
            <a:off x="1107009" y="1028700"/>
            <a:ext cx="146488" cy="1675250"/>
            <a:chOff x="0" y="0"/>
            <a:chExt cx="38581" cy="441218"/>
          </a:xfrm>
        </p:grpSpPr>
        <p:sp>
          <p:nvSpPr>
            <p:cNvPr name="Freeform 5" id="5"/>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6" id="6"/>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5400000">
            <a:off x="1793081" y="8818539"/>
            <a:ext cx="146488" cy="1675250"/>
            <a:chOff x="0" y="0"/>
            <a:chExt cx="38581" cy="441218"/>
          </a:xfrm>
        </p:grpSpPr>
        <p:sp>
          <p:nvSpPr>
            <p:cNvPr name="Freeform 8" id="8"/>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9" id="9"/>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481599" y="1602775"/>
            <a:ext cx="446849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DATASET </a:t>
            </a:r>
          </a:p>
        </p:txBody>
      </p:sp>
      <p:sp>
        <p:nvSpPr>
          <p:cNvPr name="TextBox 11" id="11"/>
          <p:cNvSpPr txBox="true"/>
          <p:nvPr/>
        </p:nvSpPr>
        <p:spPr>
          <a:xfrm rot="0">
            <a:off x="1481599" y="942975"/>
            <a:ext cx="4596719" cy="697900"/>
          </a:xfrm>
          <a:prstGeom prst="rect">
            <a:avLst/>
          </a:prstGeom>
        </p:spPr>
        <p:txBody>
          <a:bodyPr anchor="t" rtlCol="false" tIns="0" lIns="0" bIns="0" rIns="0">
            <a:spAutoFit/>
          </a:bodyPr>
          <a:lstStyle/>
          <a:p>
            <a:pPr algn="l">
              <a:lnSpc>
                <a:spcPts val="5633"/>
              </a:lnSpc>
            </a:pPr>
            <a:r>
              <a:rPr lang="en-US" b="true" sz="4023">
                <a:solidFill>
                  <a:srgbClr val="000000"/>
                </a:solidFill>
                <a:latin typeface="Roboto Bold"/>
                <a:ea typeface="Roboto Bold"/>
                <a:cs typeface="Roboto Bold"/>
                <a:sym typeface="Roboto Bold"/>
              </a:rPr>
              <a:t>ABOUT OUR</a:t>
            </a:r>
          </a:p>
        </p:txBody>
      </p:sp>
      <p:sp>
        <p:nvSpPr>
          <p:cNvPr name="TextBox 12" id="12"/>
          <p:cNvSpPr txBox="true"/>
          <p:nvPr/>
        </p:nvSpPr>
        <p:spPr>
          <a:xfrm rot="0">
            <a:off x="1028700" y="3341299"/>
            <a:ext cx="14540226" cy="6402461"/>
          </a:xfrm>
          <a:prstGeom prst="rect">
            <a:avLst/>
          </a:prstGeom>
        </p:spPr>
        <p:txBody>
          <a:bodyPr anchor="t" rtlCol="false" tIns="0" lIns="0" bIns="0" rIns="0">
            <a:spAutoFit/>
          </a:bodyPr>
          <a:lstStyle/>
          <a:p>
            <a:pPr algn="l">
              <a:lnSpc>
                <a:spcPts val="4633"/>
              </a:lnSpc>
            </a:pPr>
            <a:r>
              <a:rPr lang="en-US" sz="3309">
                <a:solidFill>
                  <a:srgbClr val="000000"/>
                </a:solidFill>
                <a:latin typeface="Poppins"/>
                <a:ea typeface="Poppins"/>
                <a:cs typeface="Poppins"/>
                <a:sym typeface="Poppins"/>
              </a:rPr>
              <a:t>The dataset consists of two main files:</a:t>
            </a:r>
          </a:p>
          <a:p>
            <a:pPr algn="l" marL="714544" indent="-357272" lvl="1">
              <a:lnSpc>
                <a:spcPts val="4633"/>
              </a:lnSpc>
              <a:buAutoNum type="arabicPeriod" startAt="1"/>
            </a:pPr>
            <a:r>
              <a:rPr lang="en-US" sz="3309">
                <a:solidFill>
                  <a:srgbClr val="000000"/>
                </a:solidFill>
                <a:latin typeface="Poppins"/>
                <a:ea typeface="Poppins"/>
                <a:cs typeface="Poppins"/>
                <a:sym typeface="Poppins"/>
              </a:rPr>
              <a:t>recipes.csv – Contains recipe-related information</a:t>
            </a:r>
          </a:p>
          <a:p>
            <a:pPr algn="l" marL="714544" indent="-357272" lvl="1">
              <a:lnSpc>
                <a:spcPts val="4633"/>
              </a:lnSpc>
              <a:buAutoNum type="arabicPeriod" startAt="1"/>
            </a:pPr>
            <a:r>
              <a:rPr lang="en-US" sz="3309">
                <a:solidFill>
                  <a:srgbClr val="000000"/>
                </a:solidFill>
                <a:latin typeface="Poppins"/>
                <a:ea typeface="Poppins"/>
                <a:cs typeface="Poppins"/>
                <a:sym typeface="Poppins"/>
              </a:rPr>
              <a:t>reviews.csv – Contains user interaction data</a:t>
            </a:r>
          </a:p>
          <a:p>
            <a:pPr algn="l" marL="714544" indent="-357272" lvl="1">
              <a:lnSpc>
                <a:spcPts val="4633"/>
              </a:lnSpc>
              <a:buFont typeface="Arial"/>
              <a:buChar char="•"/>
            </a:pPr>
            <a:r>
              <a:rPr lang="en-US" sz="3309">
                <a:solidFill>
                  <a:srgbClr val="000000"/>
                </a:solidFill>
                <a:latin typeface="Poppins"/>
                <a:ea typeface="Poppins"/>
                <a:cs typeface="Poppins"/>
                <a:sym typeface="Poppins"/>
              </a:rPr>
              <a:t>The recipes dataset includes attributes such as recipe name, ingredients, cooking time, nutritional values, and ratings. The reviews dataset includes user IDs, ratings, and textual reviews. Both datasets are linked using a common key called </a:t>
            </a:r>
            <a:r>
              <a:rPr lang="en-US" b="true" sz="3309">
                <a:solidFill>
                  <a:srgbClr val="000000"/>
                </a:solidFill>
                <a:latin typeface="Poppins Bold"/>
                <a:ea typeface="Poppins Bold"/>
                <a:cs typeface="Poppins Bold"/>
                <a:sym typeface="Poppins Bold"/>
              </a:rPr>
              <a:t>RecipeId,</a:t>
            </a:r>
            <a:r>
              <a:rPr lang="en-US" sz="3309">
                <a:solidFill>
                  <a:srgbClr val="000000"/>
                </a:solidFill>
                <a:latin typeface="Poppins"/>
                <a:ea typeface="Poppins"/>
                <a:cs typeface="Poppins"/>
                <a:sym typeface="Poppins"/>
              </a:rPr>
              <a:t> which allows us to combine them for deeper analysis. </a:t>
            </a:r>
          </a:p>
          <a:p>
            <a:pPr algn="l" marL="714544" indent="-357272" lvl="1">
              <a:lnSpc>
                <a:spcPts val="4633"/>
              </a:lnSpc>
              <a:buFont typeface="Arial"/>
              <a:buChar char="•"/>
            </a:pPr>
            <a:r>
              <a:rPr lang="en-US" sz="3309">
                <a:solidFill>
                  <a:srgbClr val="000000"/>
                </a:solidFill>
                <a:latin typeface="Poppins"/>
                <a:ea typeface="Poppins"/>
                <a:cs typeface="Poppins"/>
                <a:sym typeface="Poppins"/>
              </a:rPr>
              <a:t>This structure makes the dataset suitable for building recommendation systems.</a:t>
            </a:r>
          </a:p>
          <a:p>
            <a:pPr algn="l">
              <a:lnSpc>
                <a:spcPts val="4633"/>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DATASET EXPLANTION </a:t>
            </a:r>
          </a:p>
        </p:txBody>
      </p:sp>
      <p:sp>
        <p:nvSpPr>
          <p:cNvPr name="TextBox 7" id="7"/>
          <p:cNvSpPr txBox="true"/>
          <p:nvPr/>
        </p:nvSpPr>
        <p:spPr>
          <a:xfrm rot="0">
            <a:off x="491398" y="1806575"/>
            <a:ext cx="14540226" cy="74517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00000"/>
                </a:solidFill>
                <a:latin typeface="Poppins"/>
                <a:ea typeface="Poppins"/>
                <a:cs typeface="Poppins"/>
                <a:sym typeface="Poppins"/>
              </a:rPr>
              <a:t>The dataset is a structured and relational dataset consisting of two interconnected tables: </a:t>
            </a:r>
            <a:r>
              <a:rPr lang="en-US" b="true" sz="2499">
                <a:solidFill>
                  <a:srgbClr val="000000"/>
                </a:solidFill>
                <a:latin typeface="Poppins Bold"/>
                <a:ea typeface="Poppins Bold"/>
                <a:cs typeface="Poppins Bold"/>
                <a:sym typeface="Poppins Bold"/>
              </a:rPr>
              <a:t>recipes and reviews. </a:t>
            </a:r>
          </a:p>
          <a:p>
            <a:pPr algn="l" marL="539749" indent="-269875" lvl="1">
              <a:lnSpc>
                <a:spcPts val="3499"/>
              </a:lnSpc>
              <a:buFont typeface="Arial"/>
              <a:buChar char="•"/>
            </a:pPr>
            <a:r>
              <a:rPr lang="en-US" sz="2499">
                <a:solidFill>
                  <a:srgbClr val="000000"/>
                </a:solidFill>
                <a:latin typeface="Poppins"/>
                <a:ea typeface="Poppins"/>
                <a:cs typeface="Poppins"/>
                <a:sym typeface="Poppins"/>
              </a:rPr>
              <a:t>The recipes dataset contains detailed information about each recipe, including attributes like </a:t>
            </a:r>
            <a:r>
              <a:rPr lang="en-US" b="true" sz="2499">
                <a:solidFill>
                  <a:srgbClr val="000000"/>
                </a:solidFill>
                <a:latin typeface="Poppins Bold"/>
                <a:ea typeface="Poppins Bold"/>
                <a:cs typeface="Poppins Bold"/>
                <a:sym typeface="Poppins Bold"/>
              </a:rPr>
              <a:t>recipeid, name, ingredients, preparation time, cooking time, nutritional values (calories, protein, fat, etc.), and aggregated ratings</a:t>
            </a:r>
            <a:r>
              <a:rPr lang="en-US" sz="2499">
                <a:solidFill>
                  <a:srgbClr val="000000"/>
                </a:solidFill>
                <a:latin typeface="Poppins"/>
                <a:ea typeface="Poppins"/>
                <a:cs typeface="Poppins"/>
                <a:sym typeface="Poppins"/>
              </a:rPr>
              <a:t>. These features help in understanding the characteristics of each recipe.</a:t>
            </a:r>
          </a:p>
          <a:p>
            <a:pPr algn="l">
              <a:lnSpc>
                <a:spcPts val="3499"/>
              </a:lnSpc>
            </a:pPr>
          </a:p>
          <a:p>
            <a:pPr algn="l" marL="539749" indent="-269875" lvl="1">
              <a:lnSpc>
                <a:spcPts val="3499"/>
              </a:lnSpc>
              <a:buFont typeface="Arial"/>
              <a:buChar char="•"/>
            </a:pPr>
            <a:r>
              <a:rPr lang="en-US" sz="2499">
                <a:solidFill>
                  <a:srgbClr val="000000"/>
                </a:solidFill>
                <a:latin typeface="Poppins"/>
                <a:ea typeface="Poppins"/>
                <a:cs typeface="Poppins"/>
                <a:sym typeface="Poppins"/>
              </a:rPr>
              <a:t>The reviews dataset contains user-generated data </a:t>
            </a:r>
            <a:r>
              <a:rPr lang="en-US" b="true" sz="2499">
                <a:solidFill>
                  <a:srgbClr val="000000"/>
                </a:solidFill>
                <a:latin typeface="Poppins Bold"/>
                <a:ea typeface="Poppins Bold"/>
                <a:cs typeface="Poppins Bold"/>
                <a:sym typeface="Poppins Bold"/>
              </a:rPr>
              <a:t>such as reviewid, authorid, rating, review text, and timestamps. </a:t>
            </a:r>
            <a:r>
              <a:rPr lang="en-US" sz="2499">
                <a:solidFill>
                  <a:srgbClr val="000000"/>
                </a:solidFill>
                <a:latin typeface="Poppins"/>
                <a:ea typeface="Poppins"/>
                <a:cs typeface="Poppins"/>
                <a:sym typeface="Poppins"/>
              </a:rPr>
              <a:t>This dataset captures user preferences and feedback, which is crucial for recommendation systems.</a:t>
            </a:r>
          </a:p>
          <a:p>
            <a:pPr algn="l">
              <a:lnSpc>
                <a:spcPts val="3499"/>
              </a:lnSpc>
            </a:pPr>
          </a:p>
          <a:p>
            <a:pPr algn="l" marL="539749" indent="-269875" lvl="1">
              <a:lnSpc>
                <a:spcPts val="3499"/>
              </a:lnSpc>
              <a:buFont typeface="Arial"/>
              <a:buChar char="•"/>
            </a:pPr>
            <a:r>
              <a:rPr lang="en-US" sz="2499">
                <a:solidFill>
                  <a:srgbClr val="000000"/>
                </a:solidFill>
                <a:latin typeface="Poppins"/>
                <a:ea typeface="Poppins"/>
                <a:cs typeface="Poppins"/>
                <a:sym typeface="Poppins"/>
              </a:rPr>
              <a:t>Both datasets are linked through the recipeid column, forming a</a:t>
            </a:r>
            <a:r>
              <a:rPr lang="en-US" b="true" sz="2499">
                <a:solidFill>
                  <a:srgbClr val="000000"/>
                </a:solidFill>
                <a:latin typeface="Poppins Bold"/>
                <a:ea typeface="Poppins Bold"/>
                <a:cs typeface="Poppins Bold"/>
                <a:sym typeface="Poppins Bold"/>
              </a:rPr>
              <a:t> one-to-many relationship (one recipe can have multiple reviews)</a:t>
            </a:r>
            <a:r>
              <a:rPr lang="en-US" sz="2499">
                <a:solidFill>
                  <a:srgbClr val="000000"/>
                </a:solidFill>
                <a:latin typeface="Poppins"/>
                <a:ea typeface="Poppins"/>
                <a:cs typeface="Poppins"/>
                <a:sym typeface="Poppins"/>
              </a:rPr>
              <a:t>. This relationship allows us to merge datasets and analyze how users interact with recipes. The dataset is ideal for both content-based filtering (using recipe features) and collaborative filtering (using user ratings).</a:t>
            </a:r>
          </a:p>
          <a:p>
            <a:pPr algn="l">
              <a:lnSpc>
                <a:spcPts val="349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IDEA</a:t>
            </a:r>
          </a:p>
        </p:txBody>
      </p:sp>
      <p:sp>
        <p:nvSpPr>
          <p:cNvPr name="TextBox 7" id="7"/>
          <p:cNvSpPr txBox="true"/>
          <p:nvPr/>
        </p:nvSpPr>
        <p:spPr>
          <a:xfrm rot="0">
            <a:off x="821465" y="2055939"/>
            <a:ext cx="15959194" cy="6144261"/>
          </a:xfrm>
          <a:prstGeom prst="rect">
            <a:avLst/>
          </a:prstGeom>
        </p:spPr>
        <p:txBody>
          <a:bodyPr anchor="t" rtlCol="false" tIns="0" lIns="0" bIns="0" rIns="0">
            <a:spAutoFit/>
          </a:bodyPr>
          <a:lstStyle/>
          <a:p>
            <a:pPr algn="l">
              <a:lnSpc>
                <a:spcPts val="4479"/>
              </a:lnSpc>
            </a:pPr>
          </a:p>
          <a:p>
            <a:pPr algn="l" marL="604515" indent="-302257" lvl="1">
              <a:lnSpc>
                <a:spcPts val="4479"/>
              </a:lnSpc>
              <a:buFont typeface="Arial"/>
              <a:buChar char="•"/>
            </a:pPr>
            <a:r>
              <a:rPr lang="en-US" sz="2799">
                <a:solidFill>
                  <a:srgbClr val="000000"/>
                </a:solidFill>
                <a:latin typeface="Canva Sans"/>
                <a:ea typeface="Canva Sans"/>
                <a:cs typeface="Canva Sans"/>
                <a:sym typeface="Canva Sans"/>
              </a:rPr>
              <a:t>We are building a hybrid recommendation system that combines collaborative filtering (based on user ratings and behavior) with content-based filtering (based on recipe features like ingredients and nutrition).</a:t>
            </a:r>
          </a:p>
          <a:p>
            <a:pPr algn="l" marL="604515" indent="-302257" lvl="1">
              <a:lnSpc>
                <a:spcPts val="4479"/>
              </a:lnSpc>
              <a:buFont typeface="Arial"/>
              <a:buChar char="•"/>
            </a:pPr>
            <a:r>
              <a:rPr lang="en-US" sz="2799">
                <a:solidFill>
                  <a:srgbClr val="000000"/>
                </a:solidFill>
                <a:latin typeface="Canva Sans"/>
                <a:ea typeface="Canva Sans"/>
                <a:cs typeface="Canva Sans"/>
                <a:sym typeface="Canva Sans"/>
              </a:rPr>
              <a:t>This combination helps overcome individual limitations—collaborative filtering handles personalization but struggles with new users, while content-based filtering works without user data but may lack variety.</a:t>
            </a:r>
          </a:p>
          <a:p>
            <a:pPr algn="l" marL="604515" indent="-302257" lvl="1">
              <a:lnSpc>
                <a:spcPts val="4479"/>
              </a:lnSpc>
              <a:buFont typeface="Arial"/>
              <a:buChar char="•"/>
            </a:pPr>
            <a:r>
              <a:rPr lang="en-US" sz="2799">
                <a:solidFill>
                  <a:srgbClr val="000000"/>
                </a:solidFill>
                <a:latin typeface="Canva Sans"/>
                <a:ea typeface="Canva Sans"/>
                <a:cs typeface="Canva Sans"/>
                <a:sym typeface="Canva Sans"/>
              </a:rPr>
              <a:t>By analyzing user preferences and matching them with similar recipes using techniques like cosine similarity, the system delivers more accurate, diverse, and personalized recommendations</a:t>
            </a:r>
          </a:p>
          <a:p>
            <a:pPr algn="l">
              <a:lnSpc>
                <a:spcPts val="447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APPROACH &amp; TECH-STACK</a:t>
            </a:r>
          </a:p>
        </p:txBody>
      </p:sp>
      <p:sp>
        <p:nvSpPr>
          <p:cNvPr name="TextBox 7" id="7"/>
          <p:cNvSpPr txBox="true"/>
          <p:nvPr/>
        </p:nvSpPr>
        <p:spPr>
          <a:xfrm rot="0">
            <a:off x="531386" y="1721057"/>
            <a:ext cx="8881093" cy="9237600"/>
          </a:xfrm>
          <a:prstGeom prst="rect">
            <a:avLst/>
          </a:prstGeom>
        </p:spPr>
        <p:txBody>
          <a:bodyPr anchor="t" rtlCol="false" tIns="0" lIns="0" bIns="0" rIns="0">
            <a:spAutoFit/>
          </a:bodyPr>
          <a:lstStyle/>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Our approach follows a structured pipeline:</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Data Cleaning – Handling missing values, fixing column names, and removing duplicates</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Exploratory Data Analysis (EDA) – Understanding patterns, distributions, and relationships</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Data Merging – Combining recipes and reviews using recipeid</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Feature Engineering – Creating useful features such as average rating, popularity, and ingredient vectors</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Model Building – Applying recommendation algorithms</a:t>
            </a:r>
          </a:p>
          <a:p>
            <a:pPr algn="l" marL="561336" indent="-280668" lvl="1">
              <a:lnSpc>
                <a:spcPts val="4107"/>
              </a:lnSpc>
              <a:buFont typeface="Arial"/>
              <a:buChar char="•"/>
            </a:pPr>
            <a:r>
              <a:rPr lang="en-US" sz="2599">
                <a:solidFill>
                  <a:srgbClr val="000000"/>
                </a:solidFill>
                <a:latin typeface="Canva Sans"/>
                <a:ea typeface="Canva Sans"/>
                <a:cs typeface="Canva Sans"/>
                <a:sym typeface="Canva Sans"/>
              </a:rPr>
              <a:t>Data is cleaned, analyzed, and merged, then key features are created. Finally, models like cosine similarity and matrix factorization generate accurate recommendations.</a:t>
            </a:r>
          </a:p>
          <a:p>
            <a:pPr algn="l">
              <a:lnSpc>
                <a:spcPts val="4107"/>
              </a:lnSpc>
            </a:pPr>
          </a:p>
          <a:p>
            <a:pPr algn="l">
              <a:lnSpc>
                <a:spcPts val="4107"/>
              </a:lnSpc>
            </a:pPr>
          </a:p>
          <a:p>
            <a:pPr algn="l">
              <a:lnSpc>
                <a:spcPts val="4107"/>
              </a:lnSpc>
            </a:pPr>
          </a:p>
        </p:txBody>
      </p:sp>
      <p:sp>
        <p:nvSpPr>
          <p:cNvPr name="TextBox 8" id="8"/>
          <p:cNvSpPr txBox="true"/>
          <p:nvPr/>
        </p:nvSpPr>
        <p:spPr>
          <a:xfrm rot="0">
            <a:off x="10090693" y="1858186"/>
            <a:ext cx="6936738" cy="6805980"/>
          </a:xfrm>
          <a:prstGeom prst="rect">
            <a:avLst/>
          </a:prstGeom>
        </p:spPr>
        <p:txBody>
          <a:bodyPr anchor="t" rtlCol="false" tIns="0" lIns="0" bIns="0" rIns="0">
            <a:spAutoFit/>
          </a:bodyPr>
          <a:lstStyle/>
          <a:p>
            <a:pPr algn="l" marL="744063" indent="-372032" lvl="1">
              <a:lnSpc>
                <a:spcPts val="5445"/>
              </a:lnSpc>
              <a:buFont typeface="Arial"/>
              <a:buChar char="•"/>
            </a:pPr>
            <a:r>
              <a:rPr lang="en-US" b="true" sz="3446">
                <a:solidFill>
                  <a:srgbClr val="000000"/>
                </a:solidFill>
                <a:latin typeface="Canva Sans Bold"/>
                <a:ea typeface="Canva Sans Bold"/>
                <a:cs typeface="Canva Sans Bold"/>
                <a:sym typeface="Canva Sans Bold"/>
              </a:rPr>
              <a:t>Jupyter Notebook</a:t>
            </a:r>
          </a:p>
          <a:p>
            <a:pPr algn="l" marL="744063" indent="-372032" lvl="1">
              <a:lnSpc>
                <a:spcPts val="5445"/>
              </a:lnSpc>
              <a:buFont typeface="Arial"/>
              <a:buChar char="•"/>
            </a:pPr>
            <a:r>
              <a:rPr lang="en-US" b="true" sz="3446">
                <a:solidFill>
                  <a:srgbClr val="000000"/>
                </a:solidFill>
                <a:latin typeface="Canva Sans Bold"/>
                <a:ea typeface="Canva Sans Bold"/>
                <a:cs typeface="Canva Sans Bold"/>
                <a:sym typeface="Canva Sans Bold"/>
              </a:rPr>
              <a:t>Python  &amp; Libraries</a:t>
            </a:r>
            <a:r>
              <a:rPr lang="en-US" sz="3446">
                <a:solidFill>
                  <a:srgbClr val="000000"/>
                </a:solidFill>
                <a:latin typeface="Canva Sans"/>
                <a:ea typeface="Canva Sans"/>
                <a:cs typeface="Canva Sans"/>
                <a:sym typeface="Canva Sans"/>
              </a:rPr>
              <a:t> :</a:t>
            </a:r>
          </a:p>
          <a:p>
            <a:pPr algn="l" marL="657705" indent="-328853" lvl="1">
              <a:lnSpc>
                <a:spcPts val="4813"/>
              </a:lnSpc>
              <a:buFont typeface="Arial"/>
              <a:buChar char="•"/>
            </a:pPr>
            <a:r>
              <a:rPr lang="en-US" sz="3046">
                <a:solidFill>
                  <a:srgbClr val="000000"/>
                </a:solidFill>
                <a:latin typeface="Canva Sans"/>
                <a:ea typeface="Canva Sans"/>
                <a:cs typeface="Canva Sans"/>
                <a:sym typeface="Canva Sans"/>
              </a:rPr>
              <a:t>Pandas → Data handling and manipulation</a:t>
            </a:r>
          </a:p>
          <a:p>
            <a:pPr algn="l" marL="571348" indent="-285674" lvl="1">
              <a:lnSpc>
                <a:spcPts val="4181"/>
              </a:lnSpc>
              <a:buFont typeface="Arial"/>
              <a:buChar char="•"/>
            </a:pPr>
            <a:r>
              <a:rPr lang="en-US" sz="2646">
                <a:solidFill>
                  <a:srgbClr val="000000"/>
                </a:solidFill>
                <a:latin typeface="Canva Sans"/>
                <a:ea typeface="Canva Sans"/>
                <a:cs typeface="Canva Sans"/>
                <a:sym typeface="Canva Sans"/>
              </a:rPr>
              <a:t>N</a:t>
            </a:r>
            <a:r>
              <a:rPr lang="en-US" sz="2646">
                <a:solidFill>
                  <a:srgbClr val="000000"/>
                </a:solidFill>
                <a:latin typeface="Canva Sans"/>
                <a:ea typeface="Canva Sans"/>
                <a:cs typeface="Canva Sans"/>
                <a:sym typeface="Canva Sans"/>
              </a:rPr>
              <a:t>umPy → Numerical computations</a:t>
            </a:r>
          </a:p>
          <a:p>
            <a:pPr algn="l" marL="657705" indent="-328853" lvl="1">
              <a:lnSpc>
                <a:spcPts val="4813"/>
              </a:lnSpc>
              <a:buFont typeface="Arial"/>
              <a:buChar char="•"/>
            </a:pPr>
            <a:r>
              <a:rPr lang="en-US" sz="3046">
                <a:solidFill>
                  <a:srgbClr val="000000"/>
                </a:solidFill>
                <a:latin typeface="Canva Sans"/>
                <a:ea typeface="Canva Sans"/>
                <a:cs typeface="Canva Sans"/>
                <a:sym typeface="Canva Sans"/>
              </a:rPr>
              <a:t>Matplotlib → Basic visualization</a:t>
            </a:r>
          </a:p>
          <a:p>
            <a:pPr algn="l" marL="657705" indent="-328853" lvl="1">
              <a:lnSpc>
                <a:spcPts val="4813"/>
              </a:lnSpc>
              <a:buFont typeface="Arial"/>
              <a:buChar char="•"/>
            </a:pPr>
            <a:r>
              <a:rPr lang="en-US" sz="3046">
                <a:solidFill>
                  <a:srgbClr val="000000"/>
                </a:solidFill>
                <a:latin typeface="Canva Sans"/>
                <a:ea typeface="Canva Sans"/>
                <a:cs typeface="Canva Sans"/>
                <a:sym typeface="Canva Sans"/>
              </a:rPr>
              <a:t>Seaborn → Advanced visualization</a:t>
            </a:r>
          </a:p>
          <a:p>
            <a:pPr algn="l" marL="657705" indent="-328853" lvl="1">
              <a:lnSpc>
                <a:spcPts val="4813"/>
              </a:lnSpc>
              <a:buFont typeface="Arial"/>
              <a:buChar char="•"/>
            </a:pPr>
            <a:r>
              <a:rPr lang="en-US" sz="3046">
                <a:solidFill>
                  <a:srgbClr val="000000"/>
                </a:solidFill>
                <a:latin typeface="Canva Sans"/>
                <a:ea typeface="Canva Sans"/>
                <a:cs typeface="Canva Sans"/>
                <a:sym typeface="Canva Sans"/>
              </a:rPr>
              <a:t>Scikit-learn → Machine learning models</a:t>
            </a:r>
          </a:p>
          <a:p>
            <a:pPr algn="l">
              <a:lnSpc>
                <a:spcPts val="5445"/>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5877265" y="1400928"/>
            <a:ext cx="11767113" cy="6721253"/>
          </a:xfrm>
          <a:custGeom>
            <a:avLst/>
            <a:gdLst/>
            <a:ahLst/>
            <a:cxnLst/>
            <a:rect r="r" b="b" t="t" l="l"/>
            <a:pathLst>
              <a:path h="6721253" w="11767113">
                <a:moveTo>
                  <a:pt x="0" y="0"/>
                </a:moveTo>
                <a:lnTo>
                  <a:pt x="11767113" y="0"/>
                </a:lnTo>
                <a:lnTo>
                  <a:pt x="11767113" y="6721253"/>
                </a:lnTo>
                <a:lnTo>
                  <a:pt x="0" y="6721253"/>
                </a:lnTo>
                <a:lnTo>
                  <a:pt x="0" y="0"/>
                </a:lnTo>
                <a:close/>
              </a:path>
            </a:pathLst>
          </a:custGeom>
          <a:blipFill>
            <a:blip r:embed="rId3"/>
            <a:stretch>
              <a:fillRect l="0" t="-911" r="-1148" b="-911"/>
            </a:stretch>
          </a:blipFill>
        </p:spPr>
      </p:sp>
      <p:sp>
        <p:nvSpPr>
          <p:cNvPr name="TextBox 7" id="7"/>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OUTPUT  &amp; SCREENSHOTS</a:t>
            </a:r>
          </a:p>
        </p:txBody>
      </p:sp>
      <p:sp>
        <p:nvSpPr>
          <p:cNvPr name="TextBox 8" id="8"/>
          <p:cNvSpPr txBox="true"/>
          <p:nvPr/>
        </p:nvSpPr>
        <p:spPr>
          <a:xfrm rot="0">
            <a:off x="821465" y="1334253"/>
            <a:ext cx="7562199" cy="1650999"/>
          </a:xfrm>
          <a:prstGeom prst="rect">
            <a:avLst/>
          </a:prstGeom>
        </p:spPr>
        <p:txBody>
          <a:bodyPr anchor="t" rtlCol="false" tIns="0" lIns="0" bIns="0" rIns="0">
            <a:spAutoFit/>
          </a:bodyPr>
          <a:lstStyle/>
          <a:p>
            <a:pPr algn="l">
              <a:lnSpc>
                <a:spcPts val="5040"/>
              </a:lnSpc>
            </a:pPr>
            <a:r>
              <a:rPr lang="en-US" sz="3600" b="true">
                <a:solidFill>
                  <a:srgbClr val="000000"/>
                </a:solidFill>
                <a:latin typeface="Canva Sans Bold"/>
                <a:ea typeface="Canva Sans Bold"/>
                <a:cs typeface="Canva Sans Bold"/>
                <a:sym typeface="Canva Sans Bold"/>
              </a:rPr>
              <a:t>Two Files:</a:t>
            </a:r>
          </a:p>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01_data_loading.ipynb</a:t>
            </a:r>
          </a:p>
          <a:p>
            <a:pPr algn="l" marL="626122" indent="-313061" lvl="1">
              <a:lnSpc>
                <a:spcPts val="4060"/>
              </a:lnSpc>
              <a:buFont typeface="Arial"/>
              <a:buChar char="•"/>
            </a:pPr>
            <a:r>
              <a:rPr lang="en-US" b="true" sz="2900">
                <a:solidFill>
                  <a:srgbClr val="000000"/>
                </a:solidFill>
                <a:latin typeface="Canva Sans Bold"/>
                <a:ea typeface="Canva Sans Bold"/>
                <a:cs typeface="Canva Sans Bold"/>
                <a:sym typeface="Canva Sans Bold"/>
              </a:rPr>
              <a:t>02_dataset_eda.ipynb</a:t>
            </a:r>
          </a:p>
        </p:txBody>
      </p:sp>
      <p:sp>
        <p:nvSpPr>
          <p:cNvPr name="TextBox 9" id="9"/>
          <p:cNvSpPr txBox="true"/>
          <p:nvPr/>
        </p:nvSpPr>
        <p:spPr>
          <a:xfrm rot="0">
            <a:off x="821465" y="3223010"/>
            <a:ext cx="7562199" cy="481331"/>
          </a:xfrm>
          <a:prstGeom prst="rect">
            <a:avLst/>
          </a:prstGeom>
        </p:spPr>
        <p:txBody>
          <a:bodyPr anchor="t" rtlCol="false" tIns="0" lIns="0" bIns="0" rIns="0">
            <a:spAutoFit/>
          </a:bodyPr>
          <a:lstStyle/>
          <a:p>
            <a:pPr algn="l">
              <a:lnSpc>
                <a:spcPts val="3919"/>
              </a:lnSpc>
              <a:spcBef>
                <a:spcPct val="0"/>
              </a:spcBef>
            </a:pPr>
            <a:r>
              <a:rPr lang="en-US" b="true" sz="2799">
                <a:solidFill>
                  <a:srgbClr val="000000"/>
                </a:solidFill>
                <a:latin typeface="Canva Sans Bold"/>
                <a:ea typeface="Canva Sans Bold"/>
                <a:cs typeface="Canva Sans Bold"/>
                <a:sym typeface="Canva Sans Bold"/>
              </a:rPr>
              <a:t>SCREENSHOT OF FILE ONE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313555" y="2411846"/>
            <a:ext cx="8500366" cy="5526394"/>
          </a:xfrm>
          <a:custGeom>
            <a:avLst/>
            <a:gdLst/>
            <a:ahLst/>
            <a:cxnLst/>
            <a:rect r="r" b="b" t="t" l="l"/>
            <a:pathLst>
              <a:path h="5526394" w="8500366">
                <a:moveTo>
                  <a:pt x="0" y="0"/>
                </a:moveTo>
                <a:lnTo>
                  <a:pt x="8500366" y="0"/>
                </a:lnTo>
                <a:lnTo>
                  <a:pt x="8500366" y="5526394"/>
                </a:lnTo>
                <a:lnTo>
                  <a:pt x="0" y="5526394"/>
                </a:lnTo>
                <a:lnTo>
                  <a:pt x="0" y="0"/>
                </a:lnTo>
                <a:close/>
              </a:path>
            </a:pathLst>
          </a:custGeom>
          <a:blipFill>
            <a:blip r:embed="rId3"/>
            <a:stretch>
              <a:fillRect l="-1767" t="0" r="-6363" b="0"/>
            </a:stretch>
          </a:blipFill>
        </p:spPr>
      </p:sp>
      <p:sp>
        <p:nvSpPr>
          <p:cNvPr name="Freeform 7" id="7"/>
          <p:cNvSpPr/>
          <p:nvPr/>
        </p:nvSpPr>
        <p:spPr>
          <a:xfrm flipH="false" flipV="false" rot="0">
            <a:off x="9309033" y="2155066"/>
            <a:ext cx="8674979" cy="6039954"/>
          </a:xfrm>
          <a:custGeom>
            <a:avLst/>
            <a:gdLst/>
            <a:ahLst/>
            <a:cxnLst/>
            <a:rect r="r" b="b" t="t" l="l"/>
            <a:pathLst>
              <a:path h="6039954" w="8674979">
                <a:moveTo>
                  <a:pt x="0" y="0"/>
                </a:moveTo>
                <a:lnTo>
                  <a:pt x="8674980" y="0"/>
                </a:lnTo>
                <a:lnTo>
                  <a:pt x="8674980" y="6039954"/>
                </a:lnTo>
                <a:lnTo>
                  <a:pt x="0" y="6039954"/>
                </a:lnTo>
                <a:lnTo>
                  <a:pt x="0" y="0"/>
                </a:lnTo>
                <a:close/>
              </a:path>
            </a:pathLst>
          </a:custGeom>
          <a:blipFill>
            <a:blip r:embed="rId4"/>
            <a:stretch>
              <a:fillRect l="0" t="0" r="0" b="0"/>
            </a:stretch>
          </a:blipFill>
        </p:spPr>
      </p:sp>
      <p:sp>
        <p:nvSpPr>
          <p:cNvPr name="TextBox 8" id="8"/>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225472" y="1612579"/>
            <a:ext cx="7918528" cy="7645721"/>
          </a:xfrm>
          <a:custGeom>
            <a:avLst/>
            <a:gdLst/>
            <a:ahLst/>
            <a:cxnLst/>
            <a:rect r="r" b="b" t="t" l="l"/>
            <a:pathLst>
              <a:path h="7645721" w="7918528">
                <a:moveTo>
                  <a:pt x="0" y="0"/>
                </a:moveTo>
                <a:lnTo>
                  <a:pt x="7918528" y="0"/>
                </a:lnTo>
                <a:lnTo>
                  <a:pt x="7918528" y="7645721"/>
                </a:lnTo>
                <a:lnTo>
                  <a:pt x="0" y="7645721"/>
                </a:lnTo>
                <a:lnTo>
                  <a:pt x="0" y="0"/>
                </a:lnTo>
                <a:close/>
              </a:path>
            </a:pathLst>
          </a:custGeom>
          <a:blipFill>
            <a:blip r:embed="rId3"/>
            <a:stretch>
              <a:fillRect l="0" t="0" r="-38182" b="0"/>
            </a:stretch>
          </a:blipFill>
        </p:spPr>
      </p:sp>
      <p:sp>
        <p:nvSpPr>
          <p:cNvPr name="Freeform 7" id="7"/>
          <p:cNvSpPr/>
          <p:nvPr/>
        </p:nvSpPr>
        <p:spPr>
          <a:xfrm flipH="false" flipV="false" rot="0">
            <a:off x="9391679" y="1612579"/>
            <a:ext cx="8715788" cy="7645721"/>
          </a:xfrm>
          <a:custGeom>
            <a:avLst/>
            <a:gdLst/>
            <a:ahLst/>
            <a:cxnLst/>
            <a:rect r="r" b="b" t="t" l="l"/>
            <a:pathLst>
              <a:path h="7645721" w="8715788">
                <a:moveTo>
                  <a:pt x="0" y="0"/>
                </a:moveTo>
                <a:lnTo>
                  <a:pt x="8715788" y="0"/>
                </a:lnTo>
                <a:lnTo>
                  <a:pt x="8715788" y="7645721"/>
                </a:lnTo>
                <a:lnTo>
                  <a:pt x="0" y="7645721"/>
                </a:lnTo>
                <a:lnTo>
                  <a:pt x="0" y="0"/>
                </a:lnTo>
                <a:close/>
              </a:path>
            </a:pathLst>
          </a:custGeom>
          <a:blipFill>
            <a:blip r:embed="rId4"/>
            <a:stretch>
              <a:fillRect l="-5636" t="-5072" r="-48950" b="0"/>
            </a:stretch>
          </a:blipFill>
        </p:spPr>
      </p:sp>
      <p:sp>
        <p:nvSpPr>
          <p:cNvPr name="TextBox 8" id="8"/>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5400000">
            <a:off x="1793081" y="8818539"/>
            <a:ext cx="146488" cy="1675250"/>
            <a:chOff x="0" y="0"/>
            <a:chExt cx="38581" cy="441218"/>
          </a:xfrm>
        </p:grpSpPr>
        <p:sp>
          <p:nvSpPr>
            <p:cNvPr name="Freeform 4" id="4"/>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5" id="5"/>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821465" y="1400928"/>
            <a:ext cx="15332393" cy="8394485"/>
          </a:xfrm>
          <a:custGeom>
            <a:avLst/>
            <a:gdLst/>
            <a:ahLst/>
            <a:cxnLst/>
            <a:rect r="r" b="b" t="t" l="l"/>
            <a:pathLst>
              <a:path h="8394485" w="15332393">
                <a:moveTo>
                  <a:pt x="0" y="0"/>
                </a:moveTo>
                <a:lnTo>
                  <a:pt x="15332393" y="0"/>
                </a:lnTo>
                <a:lnTo>
                  <a:pt x="15332393" y="8394485"/>
                </a:lnTo>
                <a:lnTo>
                  <a:pt x="0" y="8394485"/>
                </a:lnTo>
                <a:lnTo>
                  <a:pt x="0" y="0"/>
                </a:lnTo>
                <a:close/>
              </a:path>
            </a:pathLst>
          </a:custGeom>
          <a:blipFill>
            <a:blip r:embed="rId3"/>
            <a:stretch>
              <a:fillRect l="0" t="0" r="0" b="0"/>
            </a:stretch>
          </a:blipFill>
        </p:spPr>
      </p:sp>
      <p:sp>
        <p:nvSpPr>
          <p:cNvPr name="TextBox 7" id="7"/>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731902" y="1400928"/>
            <a:ext cx="12139793" cy="8184509"/>
          </a:xfrm>
          <a:custGeom>
            <a:avLst/>
            <a:gdLst/>
            <a:ahLst/>
            <a:cxnLst/>
            <a:rect r="r" b="b" t="t" l="l"/>
            <a:pathLst>
              <a:path h="8184509" w="12139793">
                <a:moveTo>
                  <a:pt x="0" y="0"/>
                </a:moveTo>
                <a:lnTo>
                  <a:pt x="12139793" y="0"/>
                </a:lnTo>
                <a:lnTo>
                  <a:pt x="12139793" y="8184509"/>
                </a:lnTo>
                <a:lnTo>
                  <a:pt x="0" y="8184509"/>
                </a:lnTo>
                <a:lnTo>
                  <a:pt x="0" y="0"/>
                </a:lnTo>
                <a:close/>
              </a:path>
            </a:pathLst>
          </a:custGeom>
          <a:blipFill>
            <a:blip r:embed="rId3"/>
            <a:stretch>
              <a:fillRect l="-2929" t="0" r="0" b="0"/>
            </a:stretch>
          </a:blipFill>
        </p:spPr>
      </p:sp>
      <p:sp>
        <p:nvSpPr>
          <p:cNvPr name="TextBox 4" id="4"/>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00357" y="2406525"/>
            <a:ext cx="8491389" cy="5869673"/>
          </a:xfrm>
          <a:custGeom>
            <a:avLst/>
            <a:gdLst/>
            <a:ahLst/>
            <a:cxnLst/>
            <a:rect r="r" b="b" t="t" l="l"/>
            <a:pathLst>
              <a:path h="5869673" w="8491389">
                <a:moveTo>
                  <a:pt x="0" y="0"/>
                </a:moveTo>
                <a:lnTo>
                  <a:pt x="8491390" y="0"/>
                </a:lnTo>
                <a:lnTo>
                  <a:pt x="8491390" y="5869672"/>
                </a:lnTo>
                <a:lnTo>
                  <a:pt x="0" y="5869672"/>
                </a:lnTo>
                <a:lnTo>
                  <a:pt x="0" y="0"/>
                </a:lnTo>
                <a:close/>
              </a:path>
            </a:pathLst>
          </a:custGeom>
          <a:blipFill>
            <a:blip r:embed="rId3"/>
            <a:stretch>
              <a:fillRect l="0" t="0" r="0" b="0"/>
            </a:stretch>
          </a:blipFill>
        </p:spPr>
      </p:sp>
      <p:sp>
        <p:nvSpPr>
          <p:cNvPr name="Freeform 4" id="4"/>
          <p:cNvSpPr/>
          <p:nvPr/>
        </p:nvSpPr>
        <p:spPr>
          <a:xfrm flipH="false" flipV="false" rot="0">
            <a:off x="8880552" y="2208664"/>
            <a:ext cx="9407448" cy="5636503"/>
          </a:xfrm>
          <a:custGeom>
            <a:avLst/>
            <a:gdLst/>
            <a:ahLst/>
            <a:cxnLst/>
            <a:rect r="r" b="b" t="t" l="l"/>
            <a:pathLst>
              <a:path h="5636503" w="9407448">
                <a:moveTo>
                  <a:pt x="0" y="0"/>
                </a:moveTo>
                <a:lnTo>
                  <a:pt x="9407448" y="0"/>
                </a:lnTo>
                <a:lnTo>
                  <a:pt x="9407448" y="5636503"/>
                </a:lnTo>
                <a:lnTo>
                  <a:pt x="0" y="5636503"/>
                </a:lnTo>
                <a:lnTo>
                  <a:pt x="0" y="0"/>
                </a:lnTo>
                <a:close/>
              </a:path>
            </a:pathLst>
          </a:custGeom>
          <a:blipFill>
            <a:blip r:embed="rId4"/>
            <a:stretch>
              <a:fillRect l="-8112" t="0" r="-12018"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FILE 2 : 02_DATASET_EDA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355862" y="1971691"/>
            <a:ext cx="10016980" cy="5500055"/>
          </a:xfrm>
          <a:custGeom>
            <a:avLst/>
            <a:gdLst/>
            <a:ahLst/>
            <a:cxnLst/>
            <a:rect r="r" b="b" t="t" l="l"/>
            <a:pathLst>
              <a:path h="5500055" w="10016980">
                <a:moveTo>
                  <a:pt x="0" y="0"/>
                </a:moveTo>
                <a:lnTo>
                  <a:pt x="10016980" y="0"/>
                </a:lnTo>
                <a:lnTo>
                  <a:pt x="10016980" y="5500054"/>
                </a:lnTo>
                <a:lnTo>
                  <a:pt x="0" y="5500054"/>
                </a:lnTo>
                <a:lnTo>
                  <a:pt x="0" y="0"/>
                </a:lnTo>
                <a:close/>
              </a:path>
            </a:pathLst>
          </a:custGeom>
          <a:blipFill>
            <a:blip r:embed="rId3"/>
            <a:stretch>
              <a:fillRect l="0" t="0" r="-35156" b="0"/>
            </a:stretch>
          </a:blipFill>
        </p:spPr>
      </p:sp>
      <p:sp>
        <p:nvSpPr>
          <p:cNvPr name="Freeform 4" id="4"/>
          <p:cNvSpPr/>
          <p:nvPr/>
        </p:nvSpPr>
        <p:spPr>
          <a:xfrm flipH="false" flipV="false" rot="0">
            <a:off x="10839323" y="1971691"/>
            <a:ext cx="6064745" cy="6351645"/>
          </a:xfrm>
          <a:custGeom>
            <a:avLst/>
            <a:gdLst/>
            <a:ahLst/>
            <a:cxnLst/>
            <a:rect r="r" b="b" t="t" l="l"/>
            <a:pathLst>
              <a:path h="6351645" w="6064745">
                <a:moveTo>
                  <a:pt x="0" y="0"/>
                </a:moveTo>
                <a:lnTo>
                  <a:pt x="6064745" y="0"/>
                </a:lnTo>
                <a:lnTo>
                  <a:pt x="6064745" y="6351645"/>
                </a:lnTo>
                <a:lnTo>
                  <a:pt x="0" y="6351645"/>
                </a:lnTo>
                <a:lnTo>
                  <a:pt x="0" y="0"/>
                </a:lnTo>
                <a:close/>
              </a:path>
            </a:pathLst>
          </a:custGeom>
          <a:blipFill>
            <a:blip r:embed="rId4"/>
            <a:stretch>
              <a:fillRect l="0" t="0" r="0"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24126" y="1877335"/>
            <a:ext cx="6646474" cy="6012397"/>
          </a:xfrm>
          <a:custGeom>
            <a:avLst/>
            <a:gdLst/>
            <a:ahLst/>
            <a:cxnLst/>
            <a:rect r="r" b="b" t="t" l="l"/>
            <a:pathLst>
              <a:path h="6012397" w="6646474">
                <a:moveTo>
                  <a:pt x="0" y="0"/>
                </a:moveTo>
                <a:lnTo>
                  <a:pt x="6646474" y="0"/>
                </a:lnTo>
                <a:lnTo>
                  <a:pt x="6646474" y="6012397"/>
                </a:lnTo>
                <a:lnTo>
                  <a:pt x="0" y="6012397"/>
                </a:lnTo>
                <a:lnTo>
                  <a:pt x="0" y="0"/>
                </a:lnTo>
                <a:close/>
              </a:path>
            </a:pathLst>
          </a:custGeom>
          <a:blipFill>
            <a:blip r:embed="rId3"/>
            <a:stretch>
              <a:fillRect l="0" t="0" r="-11907" b="0"/>
            </a:stretch>
          </a:blipFill>
        </p:spPr>
      </p:sp>
      <p:sp>
        <p:nvSpPr>
          <p:cNvPr name="Freeform 4" id="4"/>
          <p:cNvSpPr/>
          <p:nvPr/>
        </p:nvSpPr>
        <p:spPr>
          <a:xfrm flipH="false" flipV="false" rot="0">
            <a:off x="7693387" y="1931080"/>
            <a:ext cx="10114094" cy="5904908"/>
          </a:xfrm>
          <a:custGeom>
            <a:avLst/>
            <a:gdLst/>
            <a:ahLst/>
            <a:cxnLst/>
            <a:rect r="r" b="b" t="t" l="l"/>
            <a:pathLst>
              <a:path h="5904908" w="10114094">
                <a:moveTo>
                  <a:pt x="0" y="0"/>
                </a:moveTo>
                <a:lnTo>
                  <a:pt x="10114094" y="0"/>
                </a:lnTo>
                <a:lnTo>
                  <a:pt x="10114094" y="5904907"/>
                </a:lnTo>
                <a:lnTo>
                  <a:pt x="0" y="5904907"/>
                </a:lnTo>
                <a:lnTo>
                  <a:pt x="0" y="0"/>
                </a:lnTo>
                <a:close/>
              </a:path>
            </a:pathLst>
          </a:custGeom>
          <a:blipFill>
            <a:blip r:embed="rId4"/>
            <a:stretch>
              <a:fillRect l="-6986" t="0" r="-4750"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42799" y="2264600"/>
            <a:ext cx="8578208" cy="5757800"/>
          </a:xfrm>
          <a:custGeom>
            <a:avLst/>
            <a:gdLst/>
            <a:ahLst/>
            <a:cxnLst/>
            <a:rect r="r" b="b" t="t" l="l"/>
            <a:pathLst>
              <a:path h="5757800" w="8578208">
                <a:moveTo>
                  <a:pt x="0" y="0"/>
                </a:moveTo>
                <a:lnTo>
                  <a:pt x="8578207" y="0"/>
                </a:lnTo>
                <a:lnTo>
                  <a:pt x="8578207" y="5757800"/>
                </a:lnTo>
                <a:lnTo>
                  <a:pt x="0" y="5757800"/>
                </a:lnTo>
                <a:lnTo>
                  <a:pt x="0" y="0"/>
                </a:lnTo>
                <a:close/>
              </a:path>
            </a:pathLst>
          </a:custGeom>
          <a:blipFill>
            <a:blip r:embed="rId3"/>
            <a:stretch>
              <a:fillRect l="0" t="0" r="-102630" b="0"/>
            </a:stretch>
          </a:blipFill>
        </p:spPr>
      </p:sp>
      <p:sp>
        <p:nvSpPr>
          <p:cNvPr name="Freeform 4" id="4"/>
          <p:cNvSpPr/>
          <p:nvPr/>
        </p:nvSpPr>
        <p:spPr>
          <a:xfrm flipH="false" flipV="false" rot="0">
            <a:off x="9504927" y="2264600"/>
            <a:ext cx="7475240" cy="6073633"/>
          </a:xfrm>
          <a:custGeom>
            <a:avLst/>
            <a:gdLst/>
            <a:ahLst/>
            <a:cxnLst/>
            <a:rect r="r" b="b" t="t" l="l"/>
            <a:pathLst>
              <a:path h="6073633" w="7475240">
                <a:moveTo>
                  <a:pt x="0" y="0"/>
                </a:moveTo>
                <a:lnTo>
                  <a:pt x="7475240" y="0"/>
                </a:lnTo>
                <a:lnTo>
                  <a:pt x="7475240" y="6073633"/>
                </a:lnTo>
                <a:lnTo>
                  <a:pt x="0" y="6073633"/>
                </a:lnTo>
                <a:lnTo>
                  <a:pt x="0" y="0"/>
                </a:lnTo>
                <a:close/>
              </a:path>
            </a:pathLst>
          </a:custGeom>
          <a:blipFill>
            <a:blip r:embed="rId4"/>
            <a:stretch>
              <a:fillRect l="0" t="0" r="0"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581989" y="1837793"/>
            <a:ext cx="13822941" cy="7602618"/>
          </a:xfrm>
          <a:custGeom>
            <a:avLst/>
            <a:gdLst/>
            <a:ahLst/>
            <a:cxnLst/>
            <a:rect r="r" b="b" t="t" l="l"/>
            <a:pathLst>
              <a:path h="7602618" w="13822941">
                <a:moveTo>
                  <a:pt x="0" y="0"/>
                </a:moveTo>
                <a:lnTo>
                  <a:pt x="13822941" y="0"/>
                </a:lnTo>
                <a:lnTo>
                  <a:pt x="13822941" y="7602617"/>
                </a:lnTo>
                <a:lnTo>
                  <a:pt x="0" y="7602617"/>
                </a:lnTo>
                <a:lnTo>
                  <a:pt x="0" y="0"/>
                </a:lnTo>
                <a:close/>
              </a:path>
            </a:pathLst>
          </a:custGeom>
          <a:blipFill>
            <a:blip r:embed="rId3"/>
            <a:stretch>
              <a:fillRect l="0" t="0" r="0" b="0"/>
            </a:stretch>
          </a:blipFill>
        </p:spPr>
      </p:sp>
      <p:sp>
        <p:nvSpPr>
          <p:cNvPr name="TextBox 4" id="4"/>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1028700" y="1703286"/>
            <a:ext cx="16918059" cy="7676569"/>
          </a:xfrm>
          <a:custGeom>
            <a:avLst/>
            <a:gdLst/>
            <a:ahLst/>
            <a:cxnLst/>
            <a:rect r="r" b="b" t="t" l="l"/>
            <a:pathLst>
              <a:path h="7676569" w="16918059">
                <a:moveTo>
                  <a:pt x="0" y="0"/>
                </a:moveTo>
                <a:lnTo>
                  <a:pt x="16918059" y="0"/>
                </a:lnTo>
                <a:lnTo>
                  <a:pt x="16918059" y="7676569"/>
                </a:lnTo>
                <a:lnTo>
                  <a:pt x="0" y="7676569"/>
                </a:lnTo>
                <a:lnTo>
                  <a:pt x="0" y="0"/>
                </a:lnTo>
                <a:close/>
              </a:path>
            </a:pathLst>
          </a:custGeom>
          <a:blipFill>
            <a:blip r:embed="rId3"/>
            <a:stretch>
              <a:fillRect l="0" t="0" r="0" b="0"/>
            </a:stretch>
          </a:blipFill>
        </p:spPr>
      </p:sp>
      <p:sp>
        <p:nvSpPr>
          <p:cNvPr name="TextBox 4" id="4"/>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821465" y="1742971"/>
            <a:ext cx="16608461" cy="7515329"/>
          </a:xfrm>
          <a:custGeom>
            <a:avLst/>
            <a:gdLst/>
            <a:ahLst/>
            <a:cxnLst/>
            <a:rect r="r" b="b" t="t" l="l"/>
            <a:pathLst>
              <a:path h="7515329" w="16608461">
                <a:moveTo>
                  <a:pt x="0" y="0"/>
                </a:moveTo>
                <a:lnTo>
                  <a:pt x="16608461" y="0"/>
                </a:lnTo>
                <a:lnTo>
                  <a:pt x="16608461" y="7515329"/>
                </a:lnTo>
                <a:lnTo>
                  <a:pt x="0" y="7515329"/>
                </a:lnTo>
                <a:lnTo>
                  <a:pt x="0" y="0"/>
                </a:lnTo>
                <a:close/>
              </a:path>
            </a:pathLst>
          </a:custGeom>
          <a:blipFill>
            <a:blip r:embed="rId3"/>
            <a:stretch>
              <a:fillRect l="0" t="0" r="0" b="0"/>
            </a:stretch>
          </a:blipFill>
        </p:spPr>
      </p:sp>
      <p:sp>
        <p:nvSpPr>
          <p:cNvPr name="TextBox 4" id="4"/>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CONTINUES .....</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253016" y="1744449"/>
            <a:ext cx="7933793" cy="5771226"/>
          </a:xfrm>
          <a:custGeom>
            <a:avLst/>
            <a:gdLst/>
            <a:ahLst/>
            <a:cxnLst/>
            <a:rect r="r" b="b" t="t" l="l"/>
            <a:pathLst>
              <a:path h="5771226" w="7933793">
                <a:moveTo>
                  <a:pt x="0" y="0"/>
                </a:moveTo>
                <a:lnTo>
                  <a:pt x="7933793" y="0"/>
                </a:lnTo>
                <a:lnTo>
                  <a:pt x="7933793" y="5771227"/>
                </a:lnTo>
                <a:lnTo>
                  <a:pt x="0" y="5771227"/>
                </a:lnTo>
                <a:lnTo>
                  <a:pt x="0" y="0"/>
                </a:lnTo>
                <a:close/>
              </a:path>
            </a:pathLst>
          </a:custGeom>
          <a:blipFill>
            <a:blip r:embed="rId3"/>
            <a:stretch>
              <a:fillRect l="-5315" t="0" r="-9013" b="0"/>
            </a:stretch>
          </a:blipFill>
        </p:spPr>
      </p:sp>
      <p:sp>
        <p:nvSpPr>
          <p:cNvPr name="Freeform 4" id="4"/>
          <p:cNvSpPr/>
          <p:nvPr/>
        </p:nvSpPr>
        <p:spPr>
          <a:xfrm flipH="false" flipV="false" rot="0">
            <a:off x="8352689" y="1744449"/>
            <a:ext cx="9137487" cy="5368098"/>
          </a:xfrm>
          <a:custGeom>
            <a:avLst/>
            <a:gdLst/>
            <a:ahLst/>
            <a:cxnLst/>
            <a:rect r="r" b="b" t="t" l="l"/>
            <a:pathLst>
              <a:path h="5368098" w="9137487">
                <a:moveTo>
                  <a:pt x="0" y="0"/>
                </a:moveTo>
                <a:lnTo>
                  <a:pt x="9137487" y="0"/>
                </a:lnTo>
                <a:lnTo>
                  <a:pt x="9137487" y="5368098"/>
                </a:lnTo>
                <a:lnTo>
                  <a:pt x="0" y="5368098"/>
                </a:lnTo>
                <a:lnTo>
                  <a:pt x="0" y="0"/>
                </a:lnTo>
                <a:close/>
              </a:path>
            </a:pathLst>
          </a:custGeom>
          <a:blipFill>
            <a:blip r:embed="rId4"/>
            <a:stretch>
              <a:fillRect l="-3812" t="0" r="-19867"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GITHUB COMMITS: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Freeform 3" id="3"/>
          <p:cNvSpPr/>
          <p:nvPr/>
        </p:nvSpPr>
        <p:spPr>
          <a:xfrm flipH="false" flipV="false" rot="0">
            <a:off x="821465" y="1857187"/>
            <a:ext cx="8914781" cy="5576230"/>
          </a:xfrm>
          <a:custGeom>
            <a:avLst/>
            <a:gdLst/>
            <a:ahLst/>
            <a:cxnLst/>
            <a:rect r="r" b="b" t="t" l="l"/>
            <a:pathLst>
              <a:path h="5576230" w="8914781">
                <a:moveTo>
                  <a:pt x="0" y="0"/>
                </a:moveTo>
                <a:lnTo>
                  <a:pt x="8914781" y="0"/>
                </a:lnTo>
                <a:lnTo>
                  <a:pt x="8914781" y="5576229"/>
                </a:lnTo>
                <a:lnTo>
                  <a:pt x="0" y="5576229"/>
                </a:lnTo>
                <a:lnTo>
                  <a:pt x="0" y="0"/>
                </a:lnTo>
                <a:close/>
              </a:path>
            </a:pathLst>
          </a:custGeom>
          <a:blipFill>
            <a:blip r:embed="rId3"/>
            <a:stretch>
              <a:fillRect l="0" t="0" r="-5348" b="0"/>
            </a:stretch>
          </a:blipFill>
        </p:spPr>
      </p:sp>
      <p:sp>
        <p:nvSpPr>
          <p:cNvPr name="Freeform 4" id="4"/>
          <p:cNvSpPr/>
          <p:nvPr/>
        </p:nvSpPr>
        <p:spPr>
          <a:xfrm flipH="false" flipV="false" rot="0">
            <a:off x="9902365" y="1857187"/>
            <a:ext cx="7828637" cy="4525495"/>
          </a:xfrm>
          <a:custGeom>
            <a:avLst/>
            <a:gdLst/>
            <a:ahLst/>
            <a:cxnLst/>
            <a:rect r="r" b="b" t="t" l="l"/>
            <a:pathLst>
              <a:path h="4525495" w="7828637">
                <a:moveTo>
                  <a:pt x="0" y="0"/>
                </a:moveTo>
                <a:lnTo>
                  <a:pt x="7828638" y="0"/>
                </a:lnTo>
                <a:lnTo>
                  <a:pt x="7828638" y="4525495"/>
                </a:lnTo>
                <a:lnTo>
                  <a:pt x="0" y="4525495"/>
                </a:lnTo>
                <a:lnTo>
                  <a:pt x="0" y="0"/>
                </a:lnTo>
                <a:close/>
              </a:path>
            </a:pathLst>
          </a:custGeom>
          <a:blipFill>
            <a:blip r:embed="rId4"/>
            <a:stretch>
              <a:fillRect l="-8669" t="0" r="-26947" b="0"/>
            </a:stretch>
          </a:blipFill>
        </p:spPr>
      </p:sp>
      <p:sp>
        <p:nvSpPr>
          <p:cNvPr name="TextBox 5" id="5"/>
          <p:cNvSpPr txBox="true"/>
          <p:nvPr/>
        </p:nvSpPr>
        <p:spPr>
          <a:xfrm rot="0">
            <a:off x="821465" y="299752"/>
            <a:ext cx="13050230" cy="1101176"/>
          </a:xfrm>
          <a:prstGeom prst="rect">
            <a:avLst/>
          </a:prstGeom>
        </p:spPr>
        <p:txBody>
          <a:bodyPr anchor="t" rtlCol="false" tIns="0" lIns="0" bIns="0" rIns="0">
            <a:spAutoFit/>
          </a:bodyPr>
          <a:lstStyle/>
          <a:p>
            <a:pPr algn="l">
              <a:lnSpc>
                <a:spcPts val="9044"/>
              </a:lnSpc>
            </a:pPr>
            <a:r>
              <a:rPr lang="en-US" b="true" sz="6460">
                <a:solidFill>
                  <a:srgbClr val="000000"/>
                </a:solidFill>
                <a:latin typeface="League Spartan"/>
                <a:ea typeface="League Spartan"/>
                <a:cs typeface="League Spartan"/>
                <a:sym typeface="League Spartan"/>
              </a:rPr>
              <a:t>GITHUB COMMITS: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sp>
        <p:nvSpPr>
          <p:cNvPr name="AutoShape 3" id="3"/>
          <p:cNvSpPr/>
          <p:nvPr/>
        </p:nvSpPr>
        <p:spPr>
          <a:xfrm rot="0">
            <a:off x="1107009" y="3150910"/>
            <a:ext cx="5049618" cy="0"/>
          </a:xfrm>
          <a:prstGeom prst="line">
            <a:avLst/>
          </a:prstGeom>
          <a:ln cap="flat" w="76200">
            <a:solidFill>
              <a:srgbClr val="574874"/>
            </a:solidFill>
            <a:prstDash val="solid"/>
            <a:headEnd type="none" len="sm" w="sm"/>
            <a:tailEnd type="none" len="sm" w="sm"/>
          </a:ln>
        </p:spPr>
      </p:sp>
      <p:grpSp>
        <p:nvGrpSpPr>
          <p:cNvPr name="Group 4" id="4"/>
          <p:cNvGrpSpPr/>
          <p:nvPr/>
        </p:nvGrpSpPr>
        <p:grpSpPr>
          <a:xfrm rot="0">
            <a:off x="1107009" y="1028700"/>
            <a:ext cx="146488" cy="1675250"/>
            <a:chOff x="0" y="0"/>
            <a:chExt cx="38581" cy="441218"/>
          </a:xfrm>
        </p:grpSpPr>
        <p:sp>
          <p:nvSpPr>
            <p:cNvPr name="Freeform 5" id="5"/>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6" id="6"/>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5400000">
            <a:off x="1793081" y="8347431"/>
            <a:ext cx="146488" cy="1675250"/>
            <a:chOff x="0" y="0"/>
            <a:chExt cx="38581" cy="441218"/>
          </a:xfrm>
        </p:grpSpPr>
        <p:sp>
          <p:nvSpPr>
            <p:cNvPr name="Freeform 8" id="8"/>
            <p:cNvSpPr/>
            <p:nvPr/>
          </p:nvSpPr>
          <p:spPr>
            <a:xfrm flipH="false" flipV="false" rot="0">
              <a:off x="0" y="0"/>
              <a:ext cx="38581" cy="441218"/>
            </a:xfrm>
            <a:custGeom>
              <a:avLst/>
              <a:gdLst/>
              <a:ahLst/>
              <a:cxnLst/>
              <a:rect r="r" b="b" t="t" l="l"/>
              <a:pathLst>
                <a:path h="441218" w="38581">
                  <a:moveTo>
                    <a:pt x="0" y="0"/>
                  </a:moveTo>
                  <a:lnTo>
                    <a:pt x="38581" y="0"/>
                  </a:lnTo>
                  <a:lnTo>
                    <a:pt x="38581" y="441218"/>
                  </a:lnTo>
                  <a:lnTo>
                    <a:pt x="0" y="441218"/>
                  </a:lnTo>
                  <a:close/>
                </a:path>
              </a:pathLst>
            </a:custGeom>
            <a:solidFill>
              <a:srgbClr val="574874"/>
            </a:solidFill>
          </p:spPr>
        </p:sp>
        <p:sp>
          <p:nvSpPr>
            <p:cNvPr name="TextBox 9" id="9"/>
            <p:cNvSpPr txBox="true"/>
            <p:nvPr/>
          </p:nvSpPr>
          <p:spPr>
            <a:xfrm>
              <a:off x="0" y="-47625"/>
              <a:ext cx="38581" cy="488843"/>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2744483" y="-1451136"/>
            <a:ext cx="701681" cy="11738136"/>
            <a:chOff x="0" y="0"/>
            <a:chExt cx="184805" cy="3091525"/>
          </a:xfrm>
        </p:grpSpPr>
        <p:sp>
          <p:nvSpPr>
            <p:cNvPr name="Freeform 11" id="11"/>
            <p:cNvSpPr/>
            <p:nvPr/>
          </p:nvSpPr>
          <p:spPr>
            <a:xfrm flipH="false" flipV="false" rot="0">
              <a:off x="0" y="0"/>
              <a:ext cx="184805" cy="3091525"/>
            </a:xfrm>
            <a:custGeom>
              <a:avLst/>
              <a:gdLst/>
              <a:ahLst/>
              <a:cxnLst/>
              <a:rect r="r" b="b" t="t" l="l"/>
              <a:pathLst>
                <a:path h="3091525" w="184805">
                  <a:moveTo>
                    <a:pt x="0" y="0"/>
                  </a:moveTo>
                  <a:lnTo>
                    <a:pt x="184805" y="0"/>
                  </a:lnTo>
                  <a:lnTo>
                    <a:pt x="184805" y="3091525"/>
                  </a:lnTo>
                  <a:lnTo>
                    <a:pt x="0" y="3091525"/>
                  </a:lnTo>
                  <a:close/>
                </a:path>
              </a:pathLst>
            </a:custGeom>
            <a:solidFill>
              <a:srgbClr val="574874"/>
            </a:solidFill>
          </p:spPr>
        </p:sp>
        <p:sp>
          <p:nvSpPr>
            <p:cNvPr name="TextBox 12" id="12"/>
            <p:cNvSpPr txBox="true"/>
            <p:nvPr/>
          </p:nvSpPr>
          <p:spPr>
            <a:xfrm>
              <a:off x="0" y="-47625"/>
              <a:ext cx="184805" cy="3139150"/>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1481599" y="1602775"/>
            <a:ext cx="5914265" cy="1101176"/>
          </a:xfrm>
          <a:prstGeom prst="rect">
            <a:avLst/>
          </a:prstGeom>
        </p:spPr>
        <p:txBody>
          <a:bodyPr anchor="t" rtlCol="false" tIns="0" lIns="0" bIns="0" rIns="0">
            <a:spAutoFit/>
          </a:bodyPr>
          <a:lstStyle/>
          <a:p>
            <a:pPr algn="l">
              <a:lnSpc>
                <a:spcPts val="9044"/>
              </a:lnSpc>
            </a:pPr>
            <a:r>
              <a:rPr lang="en-US" sz="6460">
                <a:solidFill>
                  <a:srgbClr val="000000"/>
                </a:solidFill>
                <a:latin typeface="League Spartan"/>
                <a:ea typeface="League Spartan"/>
                <a:cs typeface="League Spartan"/>
                <a:sym typeface="League Spartan"/>
              </a:rPr>
              <a:t>TEAM MATE</a:t>
            </a:r>
          </a:p>
        </p:txBody>
      </p:sp>
      <p:sp>
        <p:nvSpPr>
          <p:cNvPr name="TextBox 14" id="14"/>
          <p:cNvSpPr txBox="true"/>
          <p:nvPr/>
        </p:nvSpPr>
        <p:spPr>
          <a:xfrm rot="0">
            <a:off x="1481599" y="942975"/>
            <a:ext cx="4596719" cy="697900"/>
          </a:xfrm>
          <a:prstGeom prst="rect">
            <a:avLst/>
          </a:prstGeom>
        </p:spPr>
        <p:txBody>
          <a:bodyPr anchor="t" rtlCol="false" tIns="0" lIns="0" bIns="0" rIns="0">
            <a:spAutoFit/>
          </a:bodyPr>
          <a:lstStyle/>
          <a:p>
            <a:pPr algn="l">
              <a:lnSpc>
                <a:spcPts val="5633"/>
              </a:lnSpc>
            </a:pPr>
            <a:r>
              <a:rPr lang="en-US" b="true" sz="4023">
                <a:solidFill>
                  <a:srgbClr val="000000"/>
                </a:solidFill>
                <a:latin typeface="Roboto Bold"/>
                <a:ea typeface="Roboto Bold"/>
                <a:cs typeface="Roboto Bold"/>
                <a:sym typeface="Roboto Bold"/>
              </a:rPr>
              <a:t> OUR INTERNSHIP</a:t>
            </a:r>
          </a:p>
        </p:txBody>
      </p:sp>
      <p:sp>
        <p:nvSpPr>
          <p:cNvPr name="TextBox 15" id="15"/>
          <p:cNvSpPr txBox="true"/>
          <p:nvPr/>
        </p:nvSpPr>
        <p:spPr>
          <a:xfrm rot="0">
            <a:off x="1028700" y="3995239"/>
            <a:ext cx="6367164" cy="666925"/>
          </a:xfrm>
          <a:prstGeom prst="rect">
            <a:avLst/>
          </a:prstGeom>
        </p:spPr>
        <p:txBody>
          <a:bodyPr anchor="t" rtlCol="false" tIns="0" lIns="0" bIns="0" rIns="0">
            <a:spAutoFit/>
          </a:bodyPr>
          <a:lstStyle/>
          <a:p>
            <a:pPr algn="l">
              <a:lnSpc>
                <a:spcPts val="5240"/>
              </a:lnSpc>
              <a:spcBef>
                <a:spcPct val="0"/>
              </a:spcBef>
            </a:pPr>
            <a:r>
              <a:rPr lang="en-US" sz="3743" b="true">
                <a:solidFill>
                  <a:srgbClr val="000000"/>
                </a:solidFill>
                <a:latin typeface="Poppins Bold"/>
                <a:ea typeface="Poppins Bold"/>
                <a:cs typeface="Poppins Bold"/>
                <a:sym typeface="Poppins Bold"/>
              </a:rPr>
              <a:t>Ishan Shastri :- 24CE115</a:t>
            </a:r>
          </a:p>
        </p:txBody>
      </p:sp>
      <p:sp>
        <p:nvSpPr>
          <p:cNvPr name="TextBox 16" id="16"/>
          <p:cNvSpPr txBox="true"/>
          <p:nvPr/>
        </p:nvSpPr>
        <p:spPr>
          <a:xfrm rot="0">
            <a:off x="1028700" y="5570588"/>
            <a:ext cx="6367164" cy="617395"/>
          </a:xfrm>
          <a:prstGeom prst="rect">
            <a:avLst/>
          </a:prstGeom>
        </p:spPr>
        <p:txBody>
          <a:bodyPr anchor="t" rtlCol="false" tIns="0" lIns="0" bIns="0" rIns="0">
            <a:spAutoFit/>
          </a:bodyPr>
          <a:lstStyle/>
          <a:p>
            <a:pPr algn="l">
              <a:lnSpc>
                <a:spcPts val="4820"/>
              </a:lnSpc>
              <a:spcBef>
                <a:spcPct val="0"/>
              </a:spcBef>
            </a:pPr>
            <a:r>
              <a:rPr lang="en-US" sz="3443" b="true">
                <a:solidFill>
                  <a:srgbClr val="000000"/>
                </a:solidFill>
                <a:latin typeface="Poppins Bold"/>
                <a:ea typeface="Poppins Bold"/>
                <a:cs typeface="Poppins Bold"/>
                <a:sym typeface="Poppins Bold"/>
              </a:rPr>
              <a:t>Kush Shah :- D25CE145</a:t>
            </a:r>
          </a:p>
        </p:txBody>
      </p:sp>
      <p:sp>
        <p:nvSpPr>
          <p:cNvPr name="TextBox 17" id="17"/>
          <p:cNvSpPr txBox="true"/>
          <p:nvPr/>
        </p:nvSpPr>
        <p:spPr>
          <a:xfrm rot="0">
            <a:off x="1107009" y="7293575"/>
            <a:ext cx="6367164" cy="617395"/>
          </a:xfrm>
          <a:prstGeom prst="rect">
            <a:avLst/>
          </a:prstGeom>
        </p:spPr>
        <p:txBody>
          <a:bodyPr anchor="t" rtlCol="false" tIns="0" lIns="0" bIns="0" rIns="0">
            <a:spAutoFit/>
          </a:bodyPr>
          <a:lstStyle/>
          <a:p>
            <a:pPr algn="l">
              <a:lnSpc>
                <a:spcPts val="4820"/>
              </a:lnSpc>
              <a:spcBef>
                <a:spcPct val="0"/>
              </a:spcBef>
            </a:pPr>
            <a:r>
              <a:rPr lang="en-US" sz="3443" b="true">
                <a:solidFill>
                  <a:srgbClr val="000000"/>
                </a:solidFill>
                <a:latin typeface="Poppins Bold"/>
                <a:ea typeface="Poppins Bold"/>
                <a:cs typeface="Poppins Bold"/>
                <a:sym typeface="Poppins Bold"/>
              </a:rPr>
              <a:t>Krina Parikh :- D25CE146</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0903" t="0" r="-20903" b="0"/>
            </a:stretch>
          </a:blipFill>
        </p:spPr>
      </p:sp>
      <p:grpSp>
        <p:nvGrpSpPr>
          <p:cNvPr name="Group 3" id="3"/>
          <p:cNvGrpSpPr/>
          <p:nvPr/>
        </p:nvGrpSpPr>
        <p:grpSpPr>
          <a:xfrm rot="0">
            <a:off x="1028700" y="-248684"/>
            <a:ext cx="16230600" cy="6526476"/>
            <a:chOff x="0" y="0"/>
            <a:chExt cx="4274726" cy="1718907"/>
          </a:xfrm>
        </p:grpSpPr>
        <p:sp>
          <p:nvSpPr>
            <p:cNvPr name="Freeform 4" id="4"/>
            <p:cNvSpPr/>
            <p:nvPr/>
          </p:nvSpPr>
          <p:spPr>
            <a:xfrm flipH="false" flipV="false" rot="0">
              <a:off x="0" y="0"/>
              <a:ext cx="4274726" cy="1718907"/>
            </a:xfrm>
            <a:custGeom>
              <a:avLst/>
              <a:gdLst/>
              <a:ahLst/>
              <a:cxnLst/>
              <a:rect r="r" b="b" t="t" l="l"/>
              <a:pathLst>
                <a:path h="1718907" w="4274726">
                  <a:moveTo>
                    <a:pt x="24327" y="0"/>
                  </a:moveTo>
                  <a:lnTo>
                    <a:pt x="4250399" y="0"/>
                  </a:lnTo>
                  <a:cubicBezTo>
                    <a:pt x="4263834" y="0"/>
                    <a:pt x="4274726" y="10891"/>
                    <a:pt x="4274726" y="24327"/>
                  </a:cubicBezTo>
                  <a:lnTo>
                    <a:pt x="4274726" y="1694580"/>
                  </a:lnTo>
                  <a:cubicBezTo>
                    <a:pt x="4274726" y="1701032"/>
                    <a:pt x="4272163" y="1707220"/>
                    <a:pt x="4267601" y="1711782"/>
                  </a:cubicBezTo>
                  <a:cubicBezTo>
                    <a:pt x="4263039" y="1716344"/>
                    <a:pt x="4256851" y="1718907"/>
                    <a:pt x="4250399" y="1718907"/>
                  </a:cubicBezTo>
                  <a:lnTo>
                    <a:pt x="24327" y="1718907"/>
                  </a:lnTo>
                  <a:cubicBezTo>
                    <a:pt x="10891" y="1718907"/>
                    <a:pt x="0" y="1708016"/>
                    <a:pt x="0" y="1694580"/>
                  </a:cubicBezTo>
                  <a:lnTo>
                    <a:pt x="0" y="24327"/>
                  </a:lnTo>
                  <a:cubicBezTo>
                    <a:pt x="0" y="10891"/>
                    <a:pt x="10891" y="0"/>
                    <a:pt x="24327" y="0"/>
                  </a:cubicBezTo>
                  <a:close/>
                </a:path>
              </a:pathLst>
            </a:custGeom>
            <a:solidFill>
              <a:srgbClr val="FFFFFF"/>
            </a:solidFill>
          </p:spPr>
        </p:sp>
        <p:sp>
          <p:nvSpPr>
            <p:cNvPr name="TextBox 5" id="5"/>
            <p:cNvSpPr txBox="true"/>
            <p:nvPr/>
          </p:nvSpPr>
          <p:spPr>
            <a:xfrm>
              <a:off x="0" y="-47625"/>
              <a:ext cx="4274726" cy="176653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423739" y="1412227"/>
            <a:ext cx="11440521" cy="1874832"/>
          </a:xfrm>
          <a:prstGeom prst="rect">
            <a:avLst/>
          </a:prstGeom>
        </p:spPr>
        <p:txBody>
          <a:bodyPr anchor="t" rtlCol="false" tIns="0" lIns="0" bIns="0" rIns="0">
            <a:spAutoFit/>
          </a:bodyPr>
          <a:lstStyle/>
          <a:p>
            <a:pPr algn="ctr">
              <a:lnSpc>
                <a:spcPts val="15386"/>
              </a:lnSpc>
            </a:pPr>
            <a:r>
              <a:rPr lang="en-US" sz="10990">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DAHLrUlQMlU</dc:identifier>
  <dcterms:modified xsi:type="dcterms:W3CDTF">2011-08-01T06:04:30Z</dcterms:modified>
  <cp:revision>1</cp:revision>
  <dc:title>24ce115,d25ce145,d25ce146_week01</dc:title>
</cp:coreProperties>
</file>